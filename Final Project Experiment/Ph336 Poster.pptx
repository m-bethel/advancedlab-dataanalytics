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21945600" cy="32918400"/>
  <p:notesSz cx="6715125" cy="9239250"/>
  <p:defaultTextStyle>
    <a:defPPr>
      <a:defRPr lang="en-US"/>
    </a:defPPr>
    <a:lvl1pPr algn="ctr" rtl="0" fontAlgn="base">
      <a:spcBef>
        <a:spcPct val="0"/>
      </a:spcBef>
      <a:spcAft>
        <a:spcPct val="0"/>
      </a:spcAft>
      <a:defRPr sz="6141" kern="1200">
        <a:solidFill>
          <a:schemeClr val="tx1"/>
        </a:solidFill>
        <a:latin typeface="Arial" charset="0"/>
        <a:ea typeface="+mn-ea"/>
        <a:cs typeface="+mn-cs"/>
      </a:defRPr>
    </a:lvl1pPr>
    <a:lvl2pPr marL="326493" algn="ctr" rtl="0" fontAlgn="base">
      <a:spcBef>
        <a:spcPct val="0"/>
      </a:spcBef>
      <a:spcAft>
        <a:spcPct val="0"/>
      </a:spcAft>
      <a:defRPr sz="6141" kern="1200">
        <a:solidFill>
          <a:schemeClr val="tx1"/>
        </a:solidFill>
        <a:latin typeface="Arial" charset="0"/>
        <a:ea typeface="+mn-ea"/>
        <a:cs typeface="+mn-cs"/>
      </a:defRPr>
    </a:lvl2pPr>
    <a:lvl3pPr marL="652986" algn="ctr" rtl="0" fontAlgn="base">
      <a:spcBef>
        <a:spcPct val="0"/>
      </a:spcBef>
      <a:spcAft>
        <a:spcPct val="0"/>
      </a:spcAft>
      <a:defRPr sz="6141" kern="1200">
        <a:solidFill>
          <a:schemeClr val="tx1"/>
        </a:solidFill>
        <a:latin typeface="Arial" charset="0"/>
        <a:ea typeface="+mn-ea"/>
        <a:cs typeface="+mn-cs"/>
      </a:defRPr>
    </a:lvl3pPr>
    <a:lvl4pPr marL="979480" algn="ctr" rtl="0" fontAlgn="base">
      <a:spcBef>
        <a:spcPct val="0"/>
      </a:spcBef>
      <a:spcAft>
        <a:spcPct val="0"/>
      </a:spcAft>
      <a:defRPr sz="6141" kern="1200">
        <a:solidFill>
          <a:schemeClr val="tx1"/>
        </a:solidFill>
        <a:latin typeface="Arial" charset="0"/>
        <a:ea typeface="+mn-ea"/>
        <a:cs typeface="+mn-cs"/>
      </a:defRPr>
    </a:lvl4pPr>
    <a:lvl5pPr marL="1305973" algn="ctr" rtl="0" fontAlgn="base">
      <a:spcBef>
        <a:spcPct val="0"/>
      </a:spcBef>
      <a:spcAft>
        <a:spcPct val="0"/>
      </a:spcAft>
      <a:defRPr sz="6141" kern="1200">
        <a:solidFill>
          <a:schemeClr val="tx1"/>
        </a:solidFill>
        <a:latin typeface="Arial" charset="0"/>
        <a:ea typeface="+mn-ea"/>
        <a:cs typeface="+mn-cs"/>
      </a:defRPr>
    </a:lvl5pPr>
    <a:lvl6pPr marL="1632465" algn="l" defTabSz="652986" rtl="0" eaLnBrk="1" latinLnBrk="0" hangingPunct="1">
      <a:defRPr sz="6141" kern="1200">
        <a:solidFill>
          <a:schemeClr val="tx1"/>
        </a:solidFill>
        <a:latin typeface="Arial" charset="0"/>
        <a:ea typeface="+mn-ea"/>
        <a:cs typeface="+mn-cs"/>
      </a:defRPr>
    </a:lvl6pPr>
    <a:lvl7pPr marL="1958958" algn="l" defTabSz="652986" rtl="0" eaLnBrk="1" latinLnBrk="0" hangingPunct="1">
      <a:defRPr sz="6141" kern="1200">
        <a:solidFill>
          <a:schemeClr val="tx1"/>
        </a:solidFill>
        <a:latin typeface="Arial" charset="0"/>
        <a:ea typeface="+mn-ea"/>
        <a:cs typeface="+mn-cs"/>
      </a:defRPr>
    </a:lvl7pPr>
    <a:lvl8pPr marL="2285451" algn="l" defTabSz="652986" rtl="0" eaLnBrk="1" latinLnBrk="0" hangingPunct="1">
      <a:defRPr sz="6141" kern="1200">
        <a:solidFill>
          <a:schemeClr val="tx1"/>
        </a:solidFill>
        <a:latin typeface="Arial" charset="0"/>
        <a:ea typeface="+mn-ea"/>
        <a:cs typeface="+mn-cs"/>
      </a:defRPr>
    </a:lvl8pPr>
    <a:lvl9pPr marL="2611944" algn="l" defTabSz="652986" rtl="0" eaLnBrk="1" latinLnBrk="0" hangingPunct="1">
      <a:defRPr sz="614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0425" userDrawn="1">
          <p15:clr>
            <a:srgbClr val="A4A3A4"/>
          </p15:clr>
        </p15:guide>
        <p15:guide id="2" orient="horz" pos="20196" userDrawn="1">
          <p15:clr>
            <a:srgbClr val="A4A3A4"/>
          </p15:clr>
        </p15:guide>
        <p15:guide id="3" pos="69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7C4FF"/>
    <a:srgbClr val="EAEAEA"/>
    <a:srgbClr val="C0C0C0"/>
    <a:srgbClr val="0046D2"/>
    <a:srgbClr val="FF0000"/>
    <a:srgbClr val="698ED9"/>
    <a:srgbClr val="003064"/>
    <a:srgbClr val="003399"/>
    <a:srgbClr val="0021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9FE61C-9BF9-9735-C0A5-DD73644B6DE6}" v="343" dt="2026-04-02T16:32:49.629"/>
    <p1510:client id="{82C4C7DF-2BB0-4672-9A20-E7E6EAC6C777}" v="1172" vWet="1173" dt="2026-04-02T17:04:40.511"/>
    <p1510:client id="{85CC47D3-6301-82F6-CC60-A505A5860401}" v="17" dt="2026-04-02T16:27:54.455"/>
    <p1510:client id="{CD68CFC3-935E-DC9C-DFFE-6607ADF7E4EF}" v="208" dt="2026-04-02T17:02:51.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8007" autoAdjust="0"/>
    <p:restoredTop sz="94660"/>
  </p:normalViewPr>
  <p:slideViewPr>
    <p:cSldViewPr snapToGrid="0">
      <p:cViewPr>
        <p:scale>
          <a:sx n="33" d="100"/>
          <a:sy n="33" d="100"/>
        </p:scale>
        <p:origin x="822" y="1386"/>
      </p:cViewPr>
      <p:guideLst>
        <p:guide orient="horz" pos="10425"/>
        <p:guide orient="horz" pos="20196"/>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09888"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endParaRPr lang="en-US"/>
          </a:p>
        </p:txBody>
      </p:sp>
      <p:sp>
        <p:nvSpPr>
          <p:cNvPr id="3075" name="Rectangle 3"/>
          <p:cNvSpPr>
            <a:spLocks noGrp="1" noChangeArrowheads="1"/>
          </p:cNvSpPr>
          <p:nvPr>
            <p:ph type="dt" idx="1"/>
          </p:nvPr>
        </p:nvSpPr>
        <p:spPr bwMode="auto">
          <a:xfrm>
            <a:off x="3803650" y="0"/>
            <a:ext cx="2909888" cy="461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076" name="Rectangle 4"/>
          <p:cNvSpPr>
            <a:spLocks noGrp="1" noRot="1" noChangeAspect="1" noChangeArrowheads="1" noTextEdit="1"/>
          </p:cNvSpPr>
          <p:nvPr>
            <p:ph type="sldImg" idx="2"/>
          </p:nvPr>
        </p:nvSpPr>
        <p:spPr bwMode="auto">
          <a:xfrm>
            <a:off x="2203450" y="692150"/>
            <a:ext cx="2309813" cy="3465513"/>
          </a:xfrm>
          <a:prstGeom prst="rect">
            <a:avLst/>
          </a:prstGeom>
          <a:noFill/>
          <a:ln w="9525">
            <a:solidFill>
              <a:srgbClr val="000000"/>
            </a:solidFill>
            <a:miter lim="800000"/>
            <a:headEnd/>
            <a:tailEnd/>
          </a:ln>
          <a:effectLst/>
        </p:spPr>
        <p:txBody>
          <a:bodyPr/>
          <a:lstStyle/>
          <a:p>
            <a:endParaRPr lang="en-US"/>
          </a:p>
        </p:txBody>
      </p:sp>
      <p:sp>
        <p:nvSpPr>
          <p:cNvPr id="3077" name="Rectangle 5"/>
          <p:cNvSpPr>
            <a:spLocks noGrp="1" noChangeArrowheads="1"/>
          </p:cNvSpPr>
          <p:nvPr>
            <p:ph type="body" sz="quarter" idx="3"/>
          </p:nvPr>
        </p:nvSpPr>
        <p:spPr bwMode="auto">
          <a:xfrm>
            <a:off x="671513" y="4389438"/>
            <a:ext cx="5372100" cy="415766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8775700"/>
            <a:ext cx="2909888" cy="4619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en-US"/>
          </a:p>
        </p:txBody>
      </p:sp>
      <p:sp>
        <p:nvSpPr>
          <p:cNvPr id="3079" name="Rectangle 7"/>
          <p:cNvSpPr>
            <a:spLocks noGrp="1" noChangeArrowheads="1"/>
          </p:cNvSpPr>
          <p:nvPr>
            <p:ph type="sldNum" sz="quarter" idx="5"/>
          </p:nvPr>
        </p:nvSpPr>
        <p:spPr bwMode="auto">
          <a:xfrm>
            <a:off x="3803650" y="8775700"/>
            <a:ext cx="2909888" cy="4619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A645BAB7-E9F9-435A-B8BD-F70ADBBCBAF6}" type="slidenum">
              <a:rPr lang="en-US"/>
              <a:pPr/>
              <a:t>‹#›</a:t>
            </a:fld>
            <a:endParaRPr lang="en-US"/>
          </a:p>
        </p:txBody>
      </p:sp>
    </p:spTree>
    <p:extLst>
      <p:ext uri="{BB962C8B-B14F-4D97-AF65-F5344CB8AC3E}">
        <p14:creationId xmlns:p14="http://schemas.microsoft.com/office/powerpoint/2010/main" val="119347436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857" kern="1200">
        <a:solidFill>
          <a:schemeClr val="tx1"/>
        </a:solidFill>
        <a:latin typeface="Arial" charset="0"/>
        <a:ea typeface="+mn-ea"/>
        <a:cs typeface="+mn-cs"/>
      </a:defRPr>
    </a:lvl1pPr>
    <a:lvl2pPr marL="326493" algn="l" rtl="0" fontAlgn="base">
      <a:spcBef>
        <a:spcPct val="30000"/>
      </a:spcBef>
      <a:spcAft>
        <a:spcPct val="0"/>
      </a:spcAft>
      <a:defRPr sz="857" kern="1200">
        <a:solidFill>
          <a:schemeClr val="tx1"/>
        </a:solidFill>
        <a:latin typeface="Arial" charset="0"/>
        <a:ea typeface="+mn-ea"/>
        <a:cs typeface="+mn-cs"/>
      </a:defRPr>
    </a:lvl2pPr>
    <a:lvl3pPr marL="652986" algn="l" rtl="0" fontAlgn="base">
      <a:spcBef>
        <a:spcPct val="30000"/>
      </a:spcBef>
      <a:spcAft>
        <a:spcPct val="0"/>
      </a:spcAft>
      <a:defRPr sz="857" kern="1200">
        <a:solidFill>
          <a:schemeClr val="tx1"/>
        </a:solidFill>
        <a:latin typeface="Arial" charset="0"/>
        <a:ea typeface="+mn-ea"/>
        <a:cs typeface="+mn-cs"/>
      </a:defRPr>
    </a:lvl3pPr>
    <a:lvl4pPr marL="979480" algn="l" rtl="0" fontAlgn="base">
      <a:spcBef>
        <a:spcPct val="30000"/>
      </a:spcBef>
      <a:spcAft>
        <a:spcPct val="0"/>
      </a:spcAft>
      <a:defRPr sz="857" kern="1200">
        <a:solidFill>
          <a:schemeClr val="tx1"/>
        </a:solidFill>
        <a:latin typeface="Arial" charset="0"/>
        <a:ea typeface="+mn-ea"/>
        <a:cs typeface="+mn-cs"/>
      </a:defRPr>
    </a:lvl4pPr>
    <a:lvl5pPr marL="1305973" algn="l" rtl="0" fontAlgn="base">
      <a:spcBef>
        <a:spcPct val="30000"/>
      </a:spcBef>
      <a:spcAft>
        <a:spcPct val="0"/>
      </a:spcAft>
      <a:defRPr sz="857" kern="1200">
        <a:solidFill>
          <a:schemeClr val="tx1"/>
        </a:solidFill>
        <a:latin typeface="Arial" charset="0"/>
        <a:ea typeface="+mn-ea"/>
        <a:cs typeface="+mn-cs"/>
      </a:defRPr>
    </a:lvl5pPr>
    <a:lvl6pPr marL="1632465" algn="l" defTabSz="652986" rtl="0" eaLnBrk="1" latinLnBrk="0" hangingPunct="1">
      <a:defRPr sz="857" kern="1200">
        <a:solidFill>
          <a:schemeClr val="tx1"/>
        </a:solidFill>
        <a:latin typeface="+mn-lt"/>
        <a:ea typeface="+mn-ea"/>
        <a:cs typeface="+mn-cs"/>
      </a:defRPr>
    </a:lvl6pPr>
    <a:lvl7pPr marL="1958958" algn="l" defTabSz="652986" rtl="0" eaLnBrk="1" latinLnBrk="0" hangingPunct="1">
      <a:defRPr sz="857" kern="1200">
        <a:solidFill>
          <a:schemeClr val="tx1"/>
        </a:solidFill>
        <a:latin typeface="+mn-lt"/>
        <a:ea typeface="+mn-ea"/>
        <a:cs typeface="+mn-cs"/>
      </a:defRPr>
    </a:lvl7pPr>
    <a:lvl8pPr marL="2285451" algn="l" defTabSz="652986" rtl="0" eaLnBrk="1" latinLnBrk="0" hangingPunct="1">
      <a:defRPr sz="857" kern="1200">
        <a:solidFill>
          <a:schemeClr val="tx1"/>
        </a:solidFill>
        <a:latin typeface="+mn-lt"/>
        <a:ea typeface="+mn-ea"/>
        <a:cs typeface="+mn-cs"/>
      </a:defRPr>
    </a:lvl8pPr>
    <a:lvl9pPr marL="2611944" algn="l" defTabSz="652986" rtl="0" eaLnBrk="1" latinLnBrk="0" hangingPunct="1">
      <a:defRPr sz="8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2C7B9C-DA46-4FE0-B590-97F24EE1DB0E}" type="slidenum">
              <a:rPr lang="en-US"/>
              <a:pPr/>
              <a:t>1</a:t>
            </a:fld>
            <a:endParaRPr lang="en-US"/>
          </a:p>
        </p:txBody>
      </p:sp>
      <p:sp>
        <p:nvSpPr>
          <p:cNvPr id="4098" name="Rectangle 2"/>
          <p:cNvSpPr>
            <a:spLocks noGrp="1" noRot="1" noChangeAspect="1" noChangeArrowheads="1" noTextEdit="1"/>
          </p:cNvSpPr>
          <p:nvPr>
            <p:ph type="sldImg"/>
          </p:nvPr>
        </p:nvSpPr>
        <p:spPr>
          <a:xfrm>
            <a:off x="2203450" y="692150"/>
            <a:ext cx="2309813" cy="3465513"/>
          </a:xfrm>
          <a:ln/>
        </p:spPr>
        <p:txBody>
          <a:bodyPr/>
          <a:lstStyle/>
          <a:p>
            <a:endParaRPr lang="en-US"/>
          </a:p>
        </p:txBody>
      </p:sp>
      <p:sp>
        <p:nvSpPr>
          <p:cNvPr id="409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www.megaprint.com/" TargetMode="External"/><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5" name="Picture 4">
            <a:hlinkClick r:id="rId3"/>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r="38727"/>
          <a:stretch>
            <a:fillRect/>
          </a:stretch>
        </p:blipFill>
        <p:spPr bwMode="auto">
          <a:xfrm>
            <a:off x="16602672" y="32411541"/>
            <a:ext cx="2761191" cy="1595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1"/>
          <p:cNvSpPr txBox="1"/>
          <p:nvPr userDrawn="1"/>
        </p:nvSpPr>
        <p:spPr>
          <a:xfrm>
            <a:off x="19363862" y="32353914"/>
            <a:ext cx="1659429" cy="256545"/>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sz="1067">
                <a:solidFill>
                  <a:schemeClr val="bg1"/>
                </a:solidFill>
              </a:rPr>
              <a:t>www.postersession.com</a:t>
            </a:r>
          </a:p>
        </p:txBody>
      </p:sp>
      <p:sp>
        <p:nvSpPr>
          <p:cNvPr id="4" name="TextBox 3">
            <a:extLst>
              <a:ext uri="{FF2B5EF4-FFF2-40B4-BE49-F238E27FC236}">
                <a16:creationId xmlns:a16="http://schemas.microsoft.com/office/drawing/2014/main" id="{6FDC70A7-D2F1-4488-9AB9-7757FFE6E9FF}"/>
              </a:ext>
            </a:extLst>
          </p:cNvPr>
          <p:cNvSpPr txBox="1"/>
          <p:nvPr userDrawn="1"/>
        </p:nvSpPr>
        <p:spPr>
          <a:xfrm>
            <a:off x="101453" y="32836093"/>
            <a:ext cx="380232" cy="112788"/>
          </a:xfrm>
          <a:prstGeom prst="rect">
            <a:avLst/>
          </a:prstGeom>
          <a:noFill/>
        </p:spPr>
        <p:txBody>
          <a:bodyPr wrap="none" rtlCol="0">
            <a:spAutoFit/>
          </a:bodyPr>
          <a:ls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r>
              <a:rPr lang="en-US" sz="133" b="1">
                <a:solidFill>
                  <a:srgbClr val="003064"/>
                </a:solidFill>
              </a:rPr>
              <a:t>www.postersession.com</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2926438" rtl="0" fontAlgn="base">
        <a:spcBef>
          <a:spcPct val="0"/>
        </a:spcBef>
        <a:spcAft>
          <a:spcPct val="0"/>
        </a:spcAft>
        <a:defRPr sz="14067">
          <a:solidFill>
            <a:schemeClr val="tx2"/>
          </a:solidFill>
          <a:latin typeface="+mj-lt"/>
          <a:ea typeface="+mj-ea"/>
          <a:cs typeface="+mj-cs"/>
        </a:defRPr>
      </a:lvl1pPr>
      <a:lvl2pPr algn="ctr" defTabSz="2926438" rtl="0" fontAlgn="base">
        <a:spcBef>
          <a:spcPct val="0"/>
        </a:spcBef>
        <a:spcAft>
          <a:spcPct val="0"/>
        </a:spcAft>
        <a:defRPr sz="14067">
          <a:solidFill>
            <a:schemeClr val="tx2"/>
          </a:solidFill>
          <a:latin typeface="Arial" charset="0"/>
        </a:defRPr>
      </a:lvl2pPr>
      <a:lvl3pPr algn="ctr" defTabSz="2926438" rtl="0" fontAlgn="base">
        <a:spcBef>
          <a:spcPct val="0"/>
        </a:spcBef>
        <a:spcAft>
          <a:spcPct val="0"/>
        </a:spcAft>
        <a:defRPr sz="14067">
          <a:solidFill>
            <a:schemeClr val="tx2"/>
          </a:solidFill>
          <a:latin typeface="Arial" charset="0"/>
        </a:defRPr>
      </a:lvl3pPr>
      <a:lvl4pPr algn="ctr" defTabSz="2926438" rtl="0" fontAlgn="base">
        <a:spcBef>
          <a:spcPct val="0"/>
        </a:spcBef>
        <a:spcAft>
          <a:spcPct val="0"/>
        </a:spcAft>
        <a:defRPr sz="14067">
          <a:solidFill>
            <a:schemeClr val="tx2"/>
          </a:solidFill>
          <a:latin typeface="Arial" charset="0"/>
        </a:defRPr>
      </a:lvl4pPr>
      <a:lvl5pPr algn="ctr" defTabSz="2926438" rtl="0" fontAlgn="base">
        <a:spcBef>
          <a:spcPct val="0"/>
        </a:spcBef>
        <a:spcAft>
          <a:spcPct val="0"/>
        </a:spcAft>
        <a:defRPr sz="14067">
          <a:solidFill>
            <a:schemeClr val="tx2"/>
          </a:solidFill>
          <a:latin typeface="Arial" charset="0"/>
        </a:defRPr>
      </a:lvl5pPr>
      <a:lvl6pPr marL="304815" algn="ctr" defTabSz="2926438" rtl="0" fontAlgn="base">
        <a:spcBef>
          <a:spcPct val="0"/>
        </a:spcBef>
        <a:spcAft>
          <a:spcPct val="0"/>
        </a:spcAft>
        <a:defRPr sz="14067">
          <a:solidFill>
            <a:schemeClr val="tx2"/>
          </a:solidFill>
          <a:latin typeface="Arial" charset="0"/>
        </a:defRPr>
      </a:lvl6pPr>
      <a:lvl7pPr marL="609630" algn="ctr" defTabSz="2926438" rtl="0" fontAlgn="base">
        <a:spcBef>
          <a:spcPct val="0"/>
        </a:spcBef>
        <a:spcAft>
          <a:spcPct val="0"/>
        </a:spcAft>
        <a:defRPr sz="14067">
          <a:solidFill>
            <a:schemeClr val="tx2"/>
          </a:solidFill>
          <a:latin typeface="Arial" charset="0"/>
        </a:defRPr>
      </a:lvl7pPr>
      <a:lvl8pPr marL="914446" algn="ctr" defTabSz="2926438" rtl="0" fontAlgn="base">
        <a:spcBef>
          <a:spcPct val="0"/>
        </a:spcBef>
        <a:spcAft>
          <a:spcPct val="0"/>
        </a:spcAft>
        <a:defRPr sz="14067">
          <a:solidFill>
            <a:schemeClr val="tx2"/>
          </a:solidFill>
          <a:latin typeface="Arial" charset="0"/>
        </a:defRPr>
      </a:lvl8pPr>
      <a:lvl9pPr marL="1219261" algn="ctr" defTabSz="2926438" rtl="0" fontAlgn="base">
        <a:spcBef>
          <a:spcPct val="0"/>
        </a:spcBef>
        <a:spcAft>
          <a:spcPct val="0"/>
        </a:spcAft>
        <a:defRPr sz="14067">
          <a:solidFill>
            <a:schemeClr val="tx2"/>
          </a:solidFill>
          <a:latin typeface="Arial" charset="0"/>
        </a:defRPr>
      </a:lvl9pPr>
    </p:titleStyle>
    <p:bodyStyle>
      <a:lvl1pPr marL="1097547" indent="-1097547" algn="l" defTabSz="2926438" rtl="0" fontAlgn="base">
        <a:spcBef>
          <a:spcPct val="20000"/>
        </a:spcBef>
        <a:spcAft>
          <a:spcPct val="0"/>
        </a:spcAft>
        <a:buChar char="•"/>
        <a:defRPr sz="10267">
          <a:solidFill>
            <a:schemeClr val="tx1"/>
          </a:solidFill>
          <a:latin typeface="+mn-lt"/>
          <a:ea typeface="+mn-ea"/>
          <a:cs typeface="+mn-cs"/>
        </a:defRPr>
      </a:lvl1pPr>
      <a:lvl2pPr marL="2377136" indent="-914446" algn="l" defTabSz="2926438" rtl="0" fontAlgn="base">
        <a:spcBef>
          <a:spcPct val="20000"/>
        </a:spcBef>
        <a:spcAft>
          <a:spcPct val="0"/>
        </a:spcAft>
        <a:buChar char="–"/>
        <a:defRPr sz="8934">
          <a:solidFill>
            <a:schemeClr val="tx1"/>
          </a:solidFill>
          <a:latin typeface="+mn-lt"/>
        </a:defRPr>
      </a:lvl2pPr>
      <a:lvl3pPr marL="3657783" indent="-731345" algn="l" defTabSz="2926438" rtl="0" fontAlgn="base">
        <a:spcBef>
          <a:spcPct val="20000"/>
        </a:spcBef>
        <a:spcAft>
          <a:spcPct val="0"/>
        </a:spcAft>
        <a:buChar char="•"/>
        <a:defRPr sz="7667">
          <a:solidFill>
            <a:schemeClr val="tx1"/>
          </a:solidFill>
          <a:latin typeface="+mn-lt"/>
        </a:defRPr>
      </a:lvl3pPr>
      <a:lvl4pPr marL="5120473" indent="-731345" algn="l" defTabSz="2926438" rtl="0" fontAlgn="base">
        <a:spcBef>
          <a:spcPct val="20000"/>
        </a:spcBef>
        <a:spcAft>
          <a:spcPct val="0"/>
        </a:spcAft>
        <a:buChar char="–"/>
        <a:defRPr sz="6400">
          <a:solidFill>
            <a:schemeClr val="tx1"/>
          </a:solidFill>
          <a:latin typeface="+mn-lt"/>
        </a:defRPr>
      </a:lvl4pPr>
      <a:lvl5pPr marL="6584221" indent="-731345" algn="l" defTabSz="2926438" rtl="0" fontAlgn="base">
        <a:spcBef>
          <a:spcPct val="20000"/>
        </a:spcBef>
        <a:spcAft>
          <a:spcPct val="0"/>
        </a:spcAft>
        <a:buChar char="»"/>
        <a:defRPr sz="6400">
          <a:solidFill>
            <a:schemeClr val="tx1"/>
          </a:solidFill>
          <a:latin typeface="+mn-lt"/>
        </a:defRPr>
      </a:lvl5pPr>
      <a:lvl6pPr marL="6889036" indent="-731345" algn="l" defTabSz="2926438" rtl="0" fontAlgn="base">
        <a:spcBef>
          <a:spcPct val="20000"/>
        </a:spcBef>
        <a:spcAft>
          <a:spcPct val="0"/>
        </a:spcAft>
        <a:buChar char="»"/>
        <a:defRPr sz="6400">
          <a:solidFill>
            <a:schemeClr val="tx1"/>
          </a:solidFill>
          <a:latin typeface="+mn-lt"/>
        </a:defRPr>
      </a:lvl6pPr>
      <a:lvl7pPr marL="7193852" indent="-731345" algn="l" defTabSz="2926438" rtl="0" fontAlgn="base">
        <a:spcBef>
          <a:spcPct val="20000"/>
        </a:spcBef>
        <a:spcAft>
          <a:spcPct val="0"/>
        </a:spcAft>
        <a:buChar char="»"/>
        <a:defRPr sz="6400">
          <a:solidFill>
            <a:schemeClr val="tx1"/>
          </a:solidFill>
          <a:latin typeface="+mn-lt"/>
        </a:defRPr>
      </a:lvl7pPr>
      <a:lvl8pPr marL="7498667" indent="-731345" algn="l" defTabSz="2926438" rtl="0" fontAlgn="base">
        <a:spcBef>
          <a:spcPct val="20000"/>
        </a:spcBef>
        <a:spcAft>
          <a:spcPct val="0"/>
        </a:spcAft>
        <a:buChar char="»"/>
        <a:defRPr sz="6400">
          <a:solidFill>
            <a:schemeClr val="tx1"/>
          </a:solidFill>
          <a:latin typeface="+mn-lt"/>
        </a:defRPr>
      </a:lvl8pPr>
      <a:lvl9pPr marL="7803482" indent="-731345" algn="l" defTabSz="2926438" rtl="0" fontAlgn="base">
        <a:spcBef>
          <a:spcPct val="20000"/>
        </a:spcBef>
        <a:spcAft>
          <a:spcPct val="0"/>
        </a:spcAft>
        <a:buChar char="»"/>
        <a:defRPr sz="6400">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oleObject" Target="../embeddings/oleObject1.bin"/><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68" name="Picture 2067">
            <a:extLst>
              <a:ext uri="{FF2B5EF4-FFF2-40B4-BE49-F238E27FC236}">
                <a16:creationId xmlns:a16="http://schemas.microsoft.com/office/drawing/2014/main" id="{EEE827CE-C851-064F-E944-BD78688785D7}"/>
              </a:ext>
            </a:extLst>
          </p:cNvPr>
          <p:cNvPicPr>
            <a:picLocks noChangeAspect="1"/>
          </p:cNvPicPr>
          <p:nvPr/>
        </p:nvPicPr>
        <p:blipFill>
          <a:blip r:embed="rId3"/>
          <a:stretch>
            <a:fillRect/>
          </a:stretch>
        </p:blipFill>
        <p:spPr>
          <a:xfrm>
            <a:off x="452545" y="18350860"/>
            <a:ext cx="5877761" cy="4437133"/>
          </a:xfrm>
          <a:prstGeom prst="rect">
            <a:avLst/>
          </a:prstGeom>
        </p:spPr>
      </p:pic>
      <p:sp>
        <p:nvSpPr>
          <p:cNvPr id="2098" name="AutoShape 50"/>
          <p:cNvSpPr>
            <a:spLocks noChangeArrowheads="1"/>
          </p:cNvSpPr>
          <p:nvPr/>
        </p:nvSpPr>
        <p:spPr bwMode="auto">
          <a:xfrm>
            <a:off x="11188700" y="5961687"/>
            <a:ext cx="10325100" cy="26564828"/>
          </a:xfrm>
          <a:prstGeom prst="roundRect">
            <a:avLst>
              <a:gd name="adj" fmla="val 7000"/>
            </a:avLst>
          </a:prstGeom>
          <a:noFill/>
          <a:ln w="9525">
            <a:solidFill>
              <a:schemeClr val="tx1"/>
            </a:solidFill>
            <a:round/>
            <a:headEnd/>
            <a:tailEnd/>
          </a:ln>
          <a:effectLst/>
        </p:spPr>
        <p:txBody>
          <a:bodyPr wrap="none" anchor="ctr"/>
          <a:lstStyle/>
          <a:p>
            <a:endParaRPr lang="en-US" sz="4094"/>
          </a:p>
        </p:txBody>
      </p:sp>
      <p:sp>
        <p:nvSpPr>
          <p:cNvPr id="2052" name="AutoShape 4"/>
          <p:cNvSpPr>
            <a:spLocks noChangeArrowheads="1"/>
          </p:cNvSpPr>
          <p:nvPr/>
        </p:nvSpPr>
        <p:spPr bwMode="auto">
          <a:xfrm>
            <a:off x="381000" y="5936287"/>
            <a:ext cx="10325100" cy="26564828"/>
          </a:xfrm>
          <a:prstGeom prst="roundRect">
            <a:avLst>
              <a:gd name="adj" fmla="val 7000"/>
            </a:avLst>
          </a:prstGeom>
          <a:noFill/>
          <a:ln w="9525">
            <a:solidFill>
              <a:schemeClr val="tx1"/>
            </a:solidFill>
            <a:round/>
            <a:headEnd/>
            <a:tailEnd/>
          </a:ln>
          <a:effectLst/>
        </p:spPr>
        <p:txBody>
          <a:bodyPr wrap="none" anchor="ctr"/>
          <a:lstStyle/>
          <a:p>
            <a:endParaRPr lang="en-US" sz="4094"/>
          </a:p>
        </p:txBody>
      </p:sp>
      <p:sp>
        <p:nvSpPr>
          <p:cNvPr id="2058" name="Text Box 10"/>
          <p:cNvSpPr txBox="1">
            <a:spLocks noChangeArrowheads="1"/>
          </p:cNvSpPr>
          <p:nvPr/>
        </p:nvSpPr>
        <p:spPr bwMode="auto">
          <a:xfrm>
            <a:off x="2689225" y="10449204"/>
            <a:ext cx="5708650" cy="830997"/>
          </a:xfrm>
          <a:prstGeom prst="rect">
            <a:avLst/>
          </a:prstGeom>
          <a:noFill/>
          <a:ln w="9525">
            <a:noFill/>
            <a:miter lim="800000"/>
            <a:headEnd/>
            <a:tailEnd/>
          </a:ln>
          <a:effectLst/>
        </p:spPr>
        <p:txBody>
          <a:bodyPr wrap="square">
            <a:spAutoFit/>
          </a:bodyPr>
          <a:lstStyle/>
          <a:p>
            <a:pPr defTabSz="2926438">
              <a:spcBef>
                <a:spcPct val="50000"/>
              </a:spcBef>
            </a:pPr>
            <a:r>
              <a:rPr lang="en-US" sz="4800" b="1" dirty="0"/>
              <a:t>Objective/Theory</a:t>
            </a:r>
          </a:p>
        </p:txBody>
      </p:sp>
      <p:sp>
        <p:nvSpPr>
          <p:cNvPr id="2059" name="Text Box 11"/>
          <p:cNvSpPr txBox="1">
            <a:spLocks noChangeArrowheads="1"/>
          </p:cNvSpPr>
          <p:nvPr/>
        </p:nvSpPr>
        <p:spPr bwMode="auto">
          <a:xfrm>
            <a:off x="11825817" y="18353617"/>
            <a:ext cx="9144000" cy="769441"/>
          </a:xfrm>
          <a:prstGeom prst="rect">
            <a:avLst/>
          </a:prstGeom>
          <a:noFill/>
          <a:ln w="9525">
            <a:noFill/>
            <a:miter lim="800000"/>
            <a:headEnd/>
            <a:tailEnd/>
          </a:ln>
          <a:effectLst/>
        </p:spPr>
        <p:txBody>
          <a:bodyPr wrap="square">
            <a:spAutoFit/>
          </a:bodyPr>
          <a:lstStyle/>
          <a:p>
            <a:pPr defTabSz="2926438">
              <a:spcBef>
                <a:spcPct val="50000"/>
              </a:spcBef>
            </a:pPr>
            <a:r>
              <a:rPr lang="en-US" sz="4400" b="1" dirty="0"/>
              <a:t>Discussion/Conclusions</a:t>
            </a:r>
          </a:p>
        </p:txBody>
      </p:sp>
      <p:sp>
        <p:nvSpPr>
          <p:cNvPr id="2061" name="AutoShape 13"/>
          <p:cNvSpPr>
            <a:spLocks noChangeArrowheads="1"/>
          </p:cNvSpPr>
          <p:nvPr/>
        </p:nvSpPr>
        <p:spPr bwMode="auto">
          <a:xfrm>
            <a:off x="342900" y="417286"/>
            <a:ext cx="21259800" cy="5007819"/>
          </a:xfrm>
          <a:prstGeom prst="roundRect">
            <a:avLst>
              <a:gd name="adj" fmla="val 10870"/>
            </a:avLst>
          </a:prstGeom>
          <a:noFill/>
          <a:ln w="9525">
            <a:solidFill>
              <a:schemeClr val="tx1"/>
            </a:solidFill>
            <a:round/>
            <a:headEnd/>
            <a:tailEnd/>
          </a:ln>
          <a:effectLst/>
        </p:spPr>
        <p:txBody>
          <a:bodyPr wrap="none" anchor="ctr"/>
          <a:lstStyle/>
          <a:p>
            <a:pPr defTabSz="2926438"/>
            <a:endParaRPr lang="en-US" sz="4094">
              <a:solidFill>
                <a:schemeClr val="bg1"/>
              </a:solidFill>
            </a:endParaRPr>
          </a:p>
        </p:txBody>
      </p:sp>
      <p:sp>
        <p:nvSpPr>
          <p:cNvPr id="2062" name="Text Box 14"/>
          <p:cNvSpPr txBox="1">
            <a:spLocks noChangeArrowheads="1"/>
          </p:cNvSpPr>
          <p:nvPr/>
        </p:nvSpPr>
        <p:spPr bwMode="auto">
          <a:xfrm>
            <a:off x="6309561" y="443599"/>
            <a:ext cx="14361829" cy="4847481"/>
          </a:xfrm>
          <a:prstGeom prst="rect">
            <a:avLst/>
          </a:prstGeom>
          <a:noFill/>
          <a:ln w="9525">
            <a:noFill/>
            <a:miter lim="800000"/>
            <a:headEnd/>
            <a:tailEnd/>
          </a:ln>
          <a:effectLst/>
        </p:spPr>
        <p:txBody>
          <a:bodyPr wrap="square" lIns="91440" tIns="45720" rIns="91440" bIns="45720" anchor="t">
            <a:spAutoFit/>
          </a:bodyPr>
          <a:lstStyle/>
          <a:p>
            <a:pPr defTabSz="2926438">
              <a:spcBef>
                <a:spcPct val="50000"/>
              </a:spcBef>
            </a:pPr>
            <a:r>
              <a:rPr lang="en-US" sz="6600" b="1" dirty="0">
                <a:latin typeface="Times New Roman"/>
                <a:cs typeface="Times New Roman"/>
              </a:rPr>
              <a:t>Measuring the Mass of a Positron via Magnetic Deflection </a:t>
            </a:r>
          </a:p>
          <a:p>
            <a:pPr defTabSz="2926438">
              <a:spcBef>
                <a:spcPct val="50000"/>
              </a:spcBef>
            </a:pPr>
            <a:r>
              <a:rPr lang="en-US" sz="5400" dirty="0">
                <a:highlight>
                  <a:srgbClr val="FFFFFF"/>
                </a:highlight>
                <a:latin typeface="Times New Roman"/>
                <a:cs typeface="Times New Roman"/>
              </a:rPr>
              <a:t>PH 336 – Advanced Physics Lab</a:t>
            </a:r>
            <a:endParaRPr lang="en-US" sz="5400" b="1" dirty="0">
              <a:latin typeface="Times New Roman"/>
              <a:cs typeface="Times New Roman"/>
            </a:endParaRPr>
          </a:p>
          <a:p>
            <a:pPr defTabSz="2926438"/>
            <a:r>
              <a:rPr lang="en-US" sz="4800" b="1" dirty="0">
                <a:latin typeface="Times New Roman" panose="02020603050405020304" pitchFamily="18" charset="0"/>
                <a:cs typeface="Times New Roman" panose="02020603050405020304" pitchFamily="18" charset="0"/>
              </a:rPr>
              <a:t>Jarom Peterson, Makelle Forson, James Winder,</a:t>
            </a:r>
          </a:p>
          <a:p>
            <a:pPr defTabSz="2926438"/>
            <a:r>
              <a:rPr lang="en-US" sz="4800" b="1" dirty="0">
                <a:latin typeface="Times New Roman" panose="02020603050405020304" pitchFamily="18" charset="0"/>
                <a:cs typeface="Times New Roman" panose="02020603050405020304" pitchFamily="18" charset="0"/>
              </a:rPr>
              <a:t>Chase Etter, Miles Bethel</a:t>
            </a:r>
          </a:p>
        </p:txBody>
      </p:sp>
      <p:sp>
        <p:nvSpPr>
          <p:cNvPr id="2090" name="Text Box 42"/>
          <p:cNvSpPr txBox="1">
            <a:spLocks noChangeArrowheads="1"/>
          </p:cNvSpPr>
          <p:nvPr/>
        </p:nvSpPr>
        <p:spPr bwMode="auto">
          <a:xfrm>
            <a:off x="2813051" y="6155355"/>
            <a:ext cx="4914900" cy="830997"/>
          </a:xfrm>
          <a:prstGeom prst="rect">
            <a:avLst/>
          </a:prstGeom>
          <a:noFill/>
          <a:ln w="9525">
            <a:noFill/>
            <a:miter lim="800000"/>
            <a:headEnd/>
            <a:tailEnd/>
          </a:ln>
          <a:effectLst/>
        </p:spPr>
        <p:txBody>
          <a:bodyPr>
            <a:spAutoFit/>
          </a:bodyPr>
          <a:lstStyle/>
          <a:p>
            <a:pPr defTabSz="2926438">
              <a:spcBef>
                <a:spcPct val="50000"/>
              </a:spcBef>
            </a:pPr>
            <a:r>
              <a:rPr lang="en-US" sz="4800" b="1" dirty="0"/>
              <a:t>Background</a:t>
            </a:r>
          </a:p>
        </p:txBody>
      </p:sp>
      <p:sp>
        <p:nvSpPr>
          <p:cNvPr id="2091" name="Text Box 43"/>
          <p:cNvSpPr txBox="1">
            <a:spLocks noChangeArrowheads="1"/>
          </p:cNvSpPr>
          <p:nvPr/>
        </p:nvSpPr>
        <p:spPr bwMode="auto">
          <a:xfrm>
            <a:off x="13940367" y="6243332"/>
            <a:ext cx="4914900" cy="769441"/>
          </a:xfrm>
          <a:prstGeom prst="rect">
            <a:avLst/>
          </a:prstGeom>
          <a:noFill/>
          <a:ln w="9525">
            <a:noFill/>
            <a:miter lim="800000"/>
            <a:headEnd/>
            <a:tailEnd/>
          </a:ln>
          <a:effectLst/>
        </p:spPr>
        <p:txBody>
          <a:bodyPr>
            <a:spAutoFit/>
          </a:bodyPr>
          <a:lstStyle/>
          <a:p>
            <a:pPr defTabSz="2926438">
              <a:spcBef>
                <a:spcPct val="50000"/>
              </a:spcBef>
            </a:pPr>
            <a:r>
              <a:rPr lang="en-US" sz="4400" b="1" dirty="0"/>
              <a:t>Results</a:t>
            </a:r>
          </a:p>
        </p:txBody>
      </p:sp>
      <p:sp>
        <p:nvSpPr>
          <p:cNvPr id="23" name="Text Box 19"/>
          <p:cNvSpPr txBox="1">
            <a:spLocks noChangeArrowheads="1"/>
          </p:cNvSpPr>
          <p:nvPr/>
        </p:nvSpPr>
        <p:spPr bwMode="auto">
          <a:xfrm>
            <a:off x="11825817" y="7354750"/>
            <a:ext cx="9144000" cy="2446824"/>
          </a:xfrm>
          <a:prstGeom prst="rect">
            <a:avLst/>
          </a:prstGeom>
          <a:noFill/>
          <a:ln w="9525">
            <a:noFill/>
            <a:miter lim="800000"/>
            <a:headEnd/>
            <a:tailEnd/>
          </a:ln>
          <a:effectLst/>
        </p:spPr>
        <p:txBody>
          <a:bodyPr wrap="square">
            <a:spAutoFit/>
          </a:bodyPr>
          <a:lstStyle/>
          <a:p>
            <a:pPr algn="l" defTabSz="2926438">
              <a:spcBef>
                <a:spcPct val="50000"/>
              </a:spcBef>
            </a:pPr>
            <a:r>
              <a:rPr lang="en-US" sz="2800" dirty="0">
                <a:latin typeface="Times New Roman" panose="02020603050405020304" pitchFamily="18" charset="0"/>
                <a:cs typeface="Times New Roman" panose="02020603050405020304" pitchFamily="18" charset="0"/>
              </a:rPr>
              <a:t>Initial results revealed a P-Value of 4.4 E -53, indicating a near-zero percent chance that the 2 datasets overlap and rejecting the null hypothesis</a:t>
            </a:r>
          </a:p>
          <a:p>
            <a:pPr algn="l" defTabSz="2926438">
              <a:spcBef>
                <a:spcPct val="50000"/>
              </a:spcBef>
            </a:pPr>
            <a:endParaRPr lang="en-US" sz="2300" i="1" dirty="0">
              <a:latin typeface="Times New Roman" panose="02020603050405020304" pitchFamily="18" charset="0"/>
              <a:cs typeface="Times New Roman" panose="02020603050405020304" pitchFamily="18" charset="0"/>
            </a:endParaRPr>
          </a:p>
          <a:p>
            <a:pPr algn="l" defTabSz="2926438">
              <a:spcBef>
                <a:spcPct val="50000"/>
              </a:spcBef>
            </a:pPr>
            <a:endParaRPr lang="en-US" sz="2300" i="1" dirty="0">
              <a:latin typeface="Times New Roman" panose="02020603050405020304" pitchFamily="18" charset="0"/>
              <a:cs typeface="Times New Roman" panose="02020603050405020304" pitchFamily="18" charset="0"/>
            </a:endParaRPr>
          </a:p>
        </p:txBody>
      </p:sp>
      <p:sp>
        <p:nvSpPr>
          <p:cNvPr id="2" name="Text Box 10">
            <a:extLst>
              <a:ext uri="{FF2B5EF4-FFF2-40B4-BE49-F238E27FC236}">
                <a16:creationId xmlns:a16="http://schemas.microsoft.com/office/drawing/2014/main" id="{660DB2BA-0825-538A-6863-9E6EE3CAC8FC}"/>
              </a:ext>
            </a:extLst>
          </p:cNvPr>
          <p:cNvSpPr txBox="1">
            <a:spLocks noChangeArrowheads="1"/>
          </p:cNvSpPr>
          <p:nvPr/>
        </p:nvSpPr>
        <p:spPr bwMode="auto">
          <a:xfrm>
            <a:off x="1895475" y="15374738"/>
            <a:ext cx="6502400" cy="830997"/>
          </a:xfrm>
          <a:prstGeom prst="rect">
            <a:avLst/>
          </a:prstGeom>
          <a:noFill/>
          <a:ln w="9525">
            <a:noFill/>
            <a:miter lim="800000"/>
            <a:headEnd/>
            <a:tailEnd/>
          </a:ln>
          <a:effectLst/>
        </p:spPr>
        <p:txBody>
          <a:bodyPr wrap="square">
            <a:spAutoFit/>
          </a:bodyPr>
          <a:lstStyle/>
          <a:p>
            <a:pPr defTabSz="2926438">
              <a:spcBef>
                <a:spcPct val="50000"/>
              </a:spcBef>
            </a:pPr>
            <a:r>
              <a:rPr lang="en-US" sz="4800" b="1" dirty="0"/>
              <a:t>Design/Method</a:t>
            </a:r>
          </a:p>
        </p:txBody>
      </p:sp>
      <p:sp>
        <p:nvSpPr>
          <p:cNvPr id="4" name="Text Box 10">
            <a:extLst>
              <a:ext uri="{FF2B5EF4-FFF2-40B4-BE49-F238E27FC236}">
                <a16:creationId xmlns:a16="http://schemas.microsoft.com/office/drawing/2014/main" id="{3995D32D-8AD6-F343-AEFE-39F4E16F077B}"/>
              </a:ext>
            </a:extLst>
          </p:cNvPr>
          <p:cNvSpPr txBox="1">
            <a:spLocks noChangeArrowheads="1"/>
          </p:cNvSpPr>
          <p:nvPr/>
        </p:nvSpPr>
        <p:spPr bwMode="auto">
          <a:xfrm>
            <a:off x="2292350" y="28959753"/>
            <a:ext cx="6502400" cy="722377"/>
          </a:xfrm>
          <a:prstGeom prst="rect">
            <a:avLst/>
          </a:prstGeom>
          <a:noFill/>
          <a:ln w="9525">
            <a:noFill/>
            <a:miter lim="800000"/>
            <a:headEnd/>
            <a:tailEnd/>
          </a:ln>
          <a:effectLst/>
        </p:spPr>
        <p:txBody>
          <a:bodyPr wrap="square">
            <a:spAutoFit/>
          </a:bodyPr>
          <a:lstStyle/>
          <a:p>
            <a:pPr defTabSz="2926438">
              <a:spcBef>
                <a:spcPct val="50000"/>
              </a:spcBef>
            </a:pPr>
            <a:r>
              <a:rPr lang="en-US" sz="4000" b="1" dirty="0"/>
              <a:t>Authors</a:t>
            </a:r>
          </a:p>
        </p:txBody>
      </p:sp>
      <p:sp>
        <p:nvSpPr>
          <p:cNvPr id="5" name="Text Box 11">
            <a:extLst>
              <a:ext uri="{FF2B5EF4-FFF2-40B4-BE49-F238E27FC236}">
                <a16:creationId xmlns:a16="http://schemas.microsoft.com/office/drawing/2014/main" id="{E12C8687-D648-9632-4ABD-A0C2C42E305B}"/>
              </a:ext>
            </a:extLst>
          </p:cNvPr>
          <p:cNvSpPr txBox="1">
            <a:spLocks noChangeArrowheads="1"/>
          </p:cNvSpPr>
          <p:nvPr/>
        </p:nvSpPr>
        <p:spPr bwMode="auto">
          <a:xfrm>
            <a:off x="11825817" y="27353238"/>
            <a:ext cx="9144000" cy="646331"/>
          </a:xfrm>
          <a:prstGeom prst="rect">
            <a:avLst/>
          </a:prstGeom>
          <a:noFill/>
          <a:ln w="9525">
            <a:noFill/>
            <a:miter lim="800000"/>
            <a:headEnd/>
            <a:tailEnd/>
          </a:ln>
          <a:effectLst/>
        </p:spPr>
        <p:txBody>
          <a:bodyPr wrap="square">
            <a:spAutoFit/>
          </a:bodyPr>
          <a:lstStyle/>
          <a:p>
            <a:pPr defTabSz="2926438">
              <a:spcBef>
                <a:spcPct val="50000"/>
              </a:spcBef>
            </a:pPr>
            <a:r>
              <a:rPr lang="en-US" sz="3600" b="1" dirty="0"/>
              <a:t>References</a:t>
            </a:r>
          </a:p>
        </p:txBody>
      </p:sp>
      <p:sp>
        <p:nvSpPr>
          <p:cNvPr id="6" name="Text Box 38">
            <a:extLst>
              <a:ext uri="{FF2B5EF4-FFF2-40B4-BE49-F238E27FC236}">
                <a16:creationId xmlns:a16="http://schemas.microsoft.com/office/drawing/2014/main" id="{1EF732DF-778A-9D2E-FA60-14E01E7B49B2}"/>
              </a:ext>
            </a:extLst>
          </p:cNvPr>
          <p:cNvSpPr txBox="1">
            <a:spLocks noChangeArrowheads="1"/>
          </p:cNvSpPr>
          <p:nvPr/>
        </p:nvSpPr>
        <p:spPr bwMode="auto">
          <a:xfrm>
            <a:off x="11475225" y="28364579"/>
            <a:ext cx="9144000" cy="595174"/>
          </a:xfrm>
          <a:prstGeom prst="rect">
            <a:avLst/>
          </a:prstGeom>
          <a:noFill/>
          <a:ln w="57150" cmpd="thinThick">
            <a:noFill/>
            <a:miter lim="800000"/>
            <a:headEnd/>
            <a:tailEnd/>
          </a:ln>
          <a:effectLst/>
        </p:spPr>
        <p:txBody>
          <a:bodyPr wrap="square" lIns="40780" tIns="20389" rIns="40780" bIns="20389" anchor="t">
            <a:spAutoFit/>
          </a:bodyPr>
          <a:lstStyle/>
          <a:p>
            <a:pPr algn="just"/>
            <a:r>
              <a:rPr lang="en-US" sz="1800" dirty="0">
                <a:highlight>
                  <a:srgbClr val="FFFFFF"/>
                </a:highlight>
                <a:latin typeface="Times New Roman"/>
                <a:cs typeface="Times New Roman"/>
              </a:rPr>
              <a:t>Griffiths, D. J. (1999). </a:t>
            </a:r>
            <a:r>
              <a:rPr lang="en-US" sz="1800" i="1" dirty="0">
                <a:highlight>
                  <a:srgbClr val="FFFFFF"/>
                </a:highlight>
                <a:latin typeface="Times New Roman"/>
                <a:cs typeface="Times New Roman"/>
              </a:rPr>
              <a:t>Introduction to electrodynamics</a:t>
            </a:r>
            <a:r>
              <a:rPr lang="en-US" sz="1800" dirty="0">
                <a:highlight>
                  <a:srgbClr val="FFFFFF"/>
                </a:highlight>
                <a:latin typeface="Times New Roman"/>
                <a:cs typeface="Times New Roman"/>
              </a:rPr>
              <a:t> (3rd ed.). Prentice Hall</a:t>
            </a:r>
          </a:p>
          <a:p>
            <a:pPr algn="just"/>
            <a:endParaRPr lang="en-US" sz="1800" dirty="0">
              <a:highlight>
                <a:srgbClr val="FFFFFF"/>
              </a:highlight>
              <a:latin typeface="Times New Roman"/>
              <a:cs typeface="Times New Roman"/>
            </a:endParaRPr>
          </a:p>
        </p:txBody>
      </p:sp>
      <mc:AlternateContent xmlns:mc="http://schemas.openxmlformats.org/markup-compatibility/2006">
        <mc:Choice xmlns:a14="http://schemas.microsoft.com/office/drawing/2010/main" Requires="a14">
          <p:sp>
            <p:nvSpPr>
              <p:cNvPr id="10" name="Text Box 19">
                <a:extLst>
                  <a:ext uri="{FF2B5EF4-FFF2-40B4-BE49-F238E27FC236}">
                    <a16:creationId xmlns:a16="http://schemas.microsoft.com/office/drawing/2014/main" id="{B4194979-D452-7395-62BC-B21251F86EC2}"/>
                  </a:ext>
                </a:extLst>
              </p:cNvPr>
              <p:cNvSpPr txBox="1">
                <a:spLocks noChangeArrowheads="1"/>
              </p:cNvSpPr>
              <p:nvPr/>
            </p:nvSpPr>
            <p:spPr bwMode="auto">
              <a:xfrm>
                <a:off x="498474" y="9380691"/>
                <a:ext cx="9693840" cy="6063198"/>
              </a:xfrm>
              <a:prstGeom prst="rect">
                <a:avLst/>
              </a:prstGeom>
              <a:noFill/>
              <a:ln w="9525">
                <a:noFill/>
                <a:miter lim="800000"/>
                <a:headEnd/>
                <a:tailEnd/>
              </a:ln>
              <a:effectLst/>
            </p:spPr>
            <p:txBody>
              <a:bodyPr wrap="square" lIns="91440" tIns="45720" rIns="91440" bIns="45720" anchor="t">
                <a:spAutoFit/>
              </a:bodyPr>
              <a:lstStyle/>
              <a:p>
                <a:pPr algn="l" defTabSz="2926438">
                  <a:spcBef>
                    <a:spcPct val="50000"/>
                  </a:spcBef>
                </a:pPr>
                <a:endParaRPr lang="en-US" sz="2400" dirty="0">
                  <a:latin typeface="Times New Roman" panose="02020603050405020304" pitchFamily="18" charset="0"/>
                  <a:cs typeface="Times New Roman" panose="02020603050405020304" pitchFamily="18" charset="0"/>
                </a:endParaRPr>
              </a:p>
              <a:p>
                <a:pPr algn="l" defTabSz="2926438">
                  <a:spcBef>
                    <a:spcPct val="50000"/>
                  </a:spcBef>
                </a:pPr>
                <a:r>
                  <a:rPr lang="en-US" sz="2800" dirty="0">
                    <a:latin typeface="Times New Roman" panose="02020603050405020304" pitchFamily="18" charset="0"/>
                    <a:cs typeface="Times New Roman" panose="02020603050405020304" pitchFamily="18" charset="0"/>
                  </a:rPr>
                  <a:t>The primary objective is to experimentally determine the positron mass,      by measuring its deflection under the combined effects of the Lorentz force. We employ a velocity selector </a:t>
                </a:r>
                <a14:m>
                  <m:oMath xmlns:m="http://schemas.openxmlformats.org/officeDocument/2006/math">
                    <a:fld id="{825F15A7-03F4-43D7-82C5-3E23DA2F108C}" type="mathplaceholder">
                      <a:rPr lang="en-US" sz="2800" i="1" smtClean="0">
                        <a:latin typeface="Times New Roman" panose="02020603050405020304" pitchFamily="18" charset="0"/>
                        <a:cs typeface="Times New Roman" panose="02020603050405020304" pitchFamily="18" charset="0"/>
                      </a:rPr>
                      <a:t>Type equation here.</a:t>
                    </a:fld>
                  </m:oMath>
                </a14:m>
                <a:r>
                  <a:rPr lang="en-US" sz="2800" dirty="0">
                    <a:latin typeface="Times New Roman" panose="02020603050405020304" pitchFamily="18" charset="0"/>
                    <a:cs typeface="Times New Roman" panose="02020603050405020304" pitchFamily="18" charset="0"/>
                  </a:rPr>
                  <a:t>using crossed electric </a:t>
                </a:r>
                <a14:m>
                  <m:oMath xmlns:m="http://schemas.openxmlformats.org/officeDocument/2006/math">
                    <m:r>
                      <a:rPr lang="en-US" sz="2800" b="1" i="1" dirty="0" smtClean="0">
                        <a:latin typeface="Cambria Math" panose="02040503050406030204" pitchFamily="18" charset="0"/>
                        <a:cs typeface="Times New Roman"/>
                      </a:rPr>
                      <m:t>𝑬</m:t>
                    </m:r>
                  </m:oMath>
                </a14:m>
                <a:r>
                  <a:rPr lang="en-US" sz="2800" dirty="0">
                    <a:latin typeface="Times New Roman" panose="02020603050405020304" pitchFamily="18" charset="0"/>
                    <a:cs typeface="Times New Roman" panose="02020603050405020304" pitchFamily="18" charset="0"/>
                  </a:rPr>
                  <a:t> and magnetic </a:t>
                </a:r>
                <a14:m>
                  <m:oMath xmlns:m="http://schemas.openxmlformats.org/officeDocument/2006/math">
                    <m:r>
                      <a:rPr lang="en-US" sz="2800" b="1" i="1" dirty="0" smtClean="0">
                        <a:latin typeface="Cambria Math" panose="02040503050406030204" pitchFamily="18" charset="0"/>
                        <a:cs typeface="Times New Roman"/>
                      </a:rPr>
                      <m:t>𝑩</m:t>
                    </m:r>
                    <m:r>
                      <a:rPr lang="en-US" sz="2800" b="1" i="1" dirty="0" smtClean="0">
                        <a:latin typeface="Cambria Math" panose="02040503050406030204" pitchFamily="18" charset="0"/>
                        <a:cs typeface="Times New Roman"/>
                      </a:rPr>
                      <m:t> </m:t>
                    </m:r>
                  </m:oMath>
                </a14:m>
                <a:r>
                  <a:rPr lang="en-US" sz="2800" dirty="0">
                    <a:latin typeface="Times New Roman" panose="02020603050405020304" pitchFamily="18" charset="0"/>
                    <a:cs typeface="Times New Roman" panose="02020603050405020304" pitchFamily="18" charset="0"/>
                  </a:rPr>
                  <a:t>fields. Positrons with velocity </a:t>
                </a:r>
                <a14:m>
                  <m:oMath xmlns:m="http://schemas.openxmlformats.org/officeDocument/2006/math">
                    <m:r>
                      <a:rPr lang="en-US" sz="2800" b="0" i="1" smtClean="0">
                        <a:latin typeface="Cambria Math" panose="02040503050406030204" pitchFamily="18" charset="0"/>
                        <a:cs typeface="Times New Roman"/>
                      </a:rPr>
                      <m:t>𝑣</m:t>
                    </m:r>
                  </m:oMath>
                </a14:m>
                <a:r>
                  <a:rPr lang="en-US" sz="2800" dirty="0">
                    <a:latin typeface="Times New Roman" panose="02020603050405020304" pitchFamily="18" charset="0"/>
                    <a:cs typeface="Times New Roman" panose="02020603050405020304" pitchFamily="18" charset="0"/>
                  </a:rPr>
                  <a:t> then enter a uniform magnetic field (produced by Helmholtz coils), forcing them into a circular path of radius </a:t>
                </a:r>
                <a:r>
                  <a:rPr lang="en-US" sz="2800" i="1" dirty="0">
                    <a:latin typeface="Times New Roman" panose="02020603050405020304" pitchFamily="18" charset="0"/>
                    <a:cs typeface="Times New Roman" panose="02020603050405020304" pitchFamily="18" charset="0"/>
                  </a:rPr>
                  <a:t>r</a:t>
                </a:r>
                <a:r>
                  <a:rPr lang="en-US" sz="2800" dirty="0">
                    <a:latin typeface="Times New Roman" panose="02020603050405020304" pitchFamily="18" charset="0"/>
                    <a:cs typeface="Times New Roman" panose="02020603050405020304" pitchFamily="18" charset="0"/>
                  </a:rPr>
                  <a:t>, governed by the centripetal force condition: </a:t>
                </a:r>
              </a:p>
              <a:p>
                <a:pPr algn="l" defTabSz="2926438">
                  <a:lnSpc>
                    <a:spcPct val="150000"/>
                  </a:lnSpc>
                  <a:spcBef>
                    <a:spcPct val="50000"/>
                  </a:spcBef>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𝑞𝑣𝐵</m:t>
                      </m:r>
                      <m:r>
                        <a:rPr lang="en-US" sz="2800" i="1" dirty="0">
                          <a:latin typeface="Cambria Math" panose="02040503050406030204" pitchFamily="18" charset="0"/>
                        </a:rPr>
                        <m:t>=</m:t>
                      </m:r>
                      <m:f>
                        <m:fPr>
                          <m:ctrlPr>
                            <a:rPr lang="en-US" sz="2800" i="1" dirty="0">
                              <a:latin typeface="Cambria Math" panose="02040503050406030204" pitchFamily="18" charset="0"/>
                            </a:rPr>
                          </m:ctrlPr>
                        </m:fPr>
                        <m:num>
                          <m:r>
                            <a:rPr lang="en-US" sz="2800" i="1" dirty="0">
                              <a:latin typeface="Cambria Math" panose="02040503050406030204" pitchFamily="18" charset="0"/>
                            </a:rPr>
                            <m:t>𝑚</m:t>
                          </m:r>
                          <m:sSup>
                            <m:sSupPr>
                              <m:ctrlPr>
                                <a:rPr lang="en-US" sz="2800" i="1" dirty="0">
                                  <a:latin typeface="Cambria Math" panose="02040503050406030204" pitchFamily="18" charset="0"/>
                                </a:rPr>
                              </m:ctrlPr>
                            </m:sSupPr>
                            <m:e>
                              <m:r>
                                <a:rPr lang="en-US" sz="2800" i="1" dirty="0">
                                  <a:latin typeface="Cambria Math" panose="02040503050406030204" pitchFamily="18" charset="0"/>
                                </a:rPr>
                                <m:t>𝑣</m:t>
                              </m:r>
                            </m:e>
                            <m:sup>
                              <m:r>
                                <a:rPr lang="en-US" sz="2800" i="1" dirty="0">
                                  <a:latin typeface="Cambria Math" panose="02040503050406030204" pitchFamily="18" charset="0"/>
                                </a:rPr>
                                <m:t>2</m:t>
                              </m:r>
                            </m:sup>
                          </m:sSup>
                        </m:num>
                        <m:den>
                          <m:r>
                            <a:rPr lang="en-US" sz="2800" i="1" dirty="0">
                              <a:latin typeface="Cambria Math" panose="02040503050406030204" pitchFamily="18" charset="0"/>
                            </a:rPr>
                            <m:t>𝑟</m:t>
                          </m:r>
                        </m:den>
                      </m:f>
                      <m:r>
                        <a:rPr lang="en-US" sz="2800" i="1" dirty="0">
                          <a:latin typeface="Cambria Math" panose="02040503050406030204" pitchFamily="18" charset="0"/>
                        </a:rPr>
                        <m:t>→</m:t>
                      </m:r>
                      <m:r>
                        <a:rPr lang="en-US" sz="2800" i="1" dirty="0">
                          <a:latin typeface="Cambria Math" panose="02040503050406030204" pitchFamily="18" charset="0"/>
                        </a:rPr>
                        <m:t>𝑚</m:t>
                      </m:r>
                      <m:r>
                        <a:rPr lang="en-US" sz="2800" i="1" dirty="0">
                          <a:latin typeface="Cambria Math" panose="02040503050406030204" pitchFamily="18" charset="0"/>
                        </a:rPr>
                        <m:t>=</m:t>
                      </m:r>
                      <m:f>
                        <m:fPr>
                          <m:ctrlPr>
                            <a:rPr lang="en-US" sz="2800" i="1" dirty="0">
                              <a:latin typeface="Cambria Math" panose="02040503050406030204" pitchFamily="18" charset="0"/>
                            </a:rPr>
                          </m:ctrlPr>
                        </m:fPr>
                        <m:num>
                          <m:r>
                            <a:rPr lang="en-US" sz="2800" i="1" dirty="0">
                              <a:latin typeface="Cambria Math" panose="02040503050406030204" pitchFamily="18" charset="0"/>
                            </a:rPr>
                            <m:t>𝑞</m:t>
                          </m:r>
                          <m:sSup>
                            <m:sSupPr>
                              <m:ctrlPr>
                                <a:rPr lang="en-US" sz="2800" i="1" dirty="0">
                                  <a:latin typeface="Cambria Math" panose="02040503050406030204" pitchFamily="18" charset="0"/>
                                </a:rPr>
                              </m:ctrlPr>
                            </m:sSupPr>
                            <m:e>
                              <m:r>
                                <a:rPr lang="en-US" sz="2800" i="1" dirty="0">
                                  <a:latin typeface="Cambria Math" panose="02040503050406030204" pitchFamily="18" charset="0"/>
                                </a:rPr>
                                <m:t>𝐵</m:t>
                              </m:r>
                            </m:e>
                            <m:sup>
                              <m:r>
                                <a:rPr lang="en-US" sz="2800" i="1" dirty="0">
                                  <a:latin typeface="Cambria Math" panose="02040503050406030204" pitchFamily="18" charset="0"/>
                                </a:rPr>
                                <m:t>2</m:t>
                              </m:r>
                            </m:sup>
                          </m:sSup>
                          <m:r>
                            <a:rPr lang="en-US" sz="2800" i="1" dirty="0">
                              <a:latin typeface="Cambria Math" panose="02040503050406030204" pitchFamily="18" charset="0"/>
                            </a:rPr>
                            <m:t>𝑟</m:t>
                          </m:r>
                        </m:num>
                        <m:den>
                          <m:r>
                            <a:rPr lang="en-US" sz="2800" i="1" dirty="0">
                              <a:latin typeface="Cambria Math" panose="02040503050406030204" pitchFamily="18" charset="0"/>
                            </a:rPr>
                            <m:t>𝐸</m:t>
                          </m:r>
                        </m:den>
                      </m:f>
                    </m:oMath>
                  </m:oMathPara>
                </a14:m>
              </a:p>
              <a:p>
                <a:pPr algn="l" defTabSz="2926438">
                  <a:lnSpc>
                    <a:spcPct val="150000"/>
                  </a:lnSpc>
                  <a:spcBef>
                    <a:spcPct val="50000"/>
                  </a:spcBef>
                </a:pPr>
                <a:endParaRPr lang="en-US" sz="2000" dirty="0">
                  <a:latin typeface="Times New Roman"/>
                  <a:cs typeface="Times New Roman"/>
                </a:endParaRPr>
              </a:p>
              <a:p>
                <a:pPr algn="l" defTabSz="2926438">
                  <a:spcBef>
                    <a:spcPct val="50000"/>
                  </a:spcBef>
                </a:pPr>
                <a:endParaRPr lang="en-US" sz="2000" dirty="0">
                  <a:latin typeface="Times New Roman"/>
                  <a:cs typeface="Times New Roman"/>
                </a:endParaRPr>
              </a:p>
            </p:txBody>
          </p:sp>
        </mc:Choice>
        <mc:Fallback>
          <p:sp>
            <p:nvSpPr>
              <p:cNvPr id="10" name="Text Box 19">
                <a:extLst>
                  <a:ext uri="{FF2B5EF4-FFF2-40B4-BE49-F238E27FC236}">
                    <a16:creationId xmlns:a16="http://schemas.microsoft.com/office/drawing/2014/main" id="{B4194979-D452-7395-62BC-B21251F86EC2}"/>
                  </a:ext>
                </a:extLst>
              </p:cNvPr>
              <p:cNvSpPr txBox="1">
                <a:spLocks noRot="1" noChangeAspect="1" noMove="1" noResize="1" noEditPoints="1" noAdjustHandles="1" noChangeArrowheads="1" noChangeShapeType="1" noTextEdit="1"/>
              </p:cNvSpPr>
              <p:nvPr/>
            </p:nvSpPr>
            <p:spPr bwMode="auto">
              <a:xfrm>
                <a:off x="498474" y="9380691"/>
                <a:ext cx="9693840" cy="6063198"/>
              </a:xfrm>
              <a:prstGeom prst="rect">
                <a:avLst/>
              </a:prstGeom>
              <a:blipFill>
                <a:blip r:embed="rId4"/>
                <a:stretch>
                  <a:fillRect l="-1321" r="-2075"/>
                </a:stretch>
              </a:blipFill>
              <a:ln w="9525">
                <a:noFill/>
                <a:miter lim="800000"/>
                <a:headEnd/>
                <a:tailEnd/>
              </a:ln>
              <a:effectLst/>
            </p:spPr>
            <p:txBody>
              <a:bodyPr/>
              <a:lstStyle/>
              <a:p>
                <a:r>
                  <a:rPr lang="en-US">
                    <a:noFill/>
                  </a:rPr>
                  <a:t> </a:t>
                </a:r>
              </a:p>
            </p:txBody>
          </p:sp>
        </mc:Fallback>
      </mc:AlternateContent>
      <p:sp>
        <p:nvSpPr>
          <p:cNvPr id="11" name="Text Box 19">
            <a:extLst>
              <a:ext uri="{FF2B5EF4-FFF2-40B4-BE49-F238E27FC236}">
                <a16:creationId xmlns:a16="http://schemas.microsoft.com/office/drawing/2014/main" id="{9F6993B5-6ED1-E03D-711B-946A2D9EAA41}"/>
              </a:ext>
            </a:extLst>
          </p:cNvPr>
          <p:cNvSpPr txBox="1">
            <a:spLocks noChangeArrowheads="1"/>
          </p:cNvSpPr>
          <p:nvPr/>
        </p:nvSpPr>
        <p:spPr bwMode="auto">
          <a:xfrm>
            <a:off x="730385" y="16367320"/>
            <a:ext cx="9714516" cy="1815882"/>
          </a:xfrm>
          <a:prstGeom prst="rect">
            <a:avLst/>
          </a:prstGeom>
          <a:noFill/>
          <a:ln w="9525">
            <a:noFill/>
            <a:miter lim="800000"/>
            <a:headEnd/>
            <a:tailEnd/>
          </a:ln>
          <a:effectLst/>
        </p:spPr>
        <p:txBody>
          <a:bodyPr wrap="square" lIns="91440" tIns="45720" rIns="91440" bIns="45720" anchor="t">
            <a:spAutoFit/>
          </a:bodyPr>
          <a:lstStyle/>
          <a:p>
            <a:pPr algn="just" defTabSz="2926438">
              <a:spcBef>
                <a:spcPct val="50000"/>
              </a:spcBef>
            </a:pPr>
            <a:r>
              <a:rPr lang="en-US" sz="2800" dirty="0">
                <a:latin typeface="Times New Roman" panose="02020603050405020304" pitchFamily="18" charset="0"/>
                <a:cs typeface="Times New Roman" panose="02020603050405020304" pitchFamily="18" charset="0"/>
              </a:rPr>
              <a:t>The Na-22 sample emits positrons which will immediately undergo a Lorentz force from the Helmholtz coil generating a 4.55mT magnetic field. To select the desired positron velocities, we passed them through a parallel plate capacitor with a separation</a:t>
            </a:r>
            <a:endParaRPr lang="en-US" sz="2000" dirty="0">
              <a:latin typeface="Times New Roman" panose="02020603050405020304" pitchFamily="18" charset="0"/>
              <a:cs typeface="Times New Roman" panose="02020603050405020304" pitchFamily="18" charset="0"/>
            </a:endParaRPr>
          </a:p>
        </p:txBody>
      </p:sp>
      <p:graphicFrame>
        <p:nvGraphicFramePr>
          <p:cNvPr id="57" name="Object 56">
            <a:extLst>
              <a:ext uri="{FF2B5EF4-FFF2-40B4-BE49-F238E27FC236}">
                <a16:creationId xmlns:a16="http://schemas.microsoft.com/office/drawing/2014/main" id="{6BA53EFE-BFC3-3FA5-F3AF-FE2035D438E1}"/>
              </a:ext>
            </a:extLst>
          </p:cNvPr>
          <p:cNvGraphicFramePr>
            <a:graphicFrameLocks noChangeAspect="1"/>
          </p:cNvGraphicFramePr>
          <p:nvPr>
            <p:extLst>
              <p:ext uri="{D42A27DB-BD31-4B8C-83A1-F6EECF244321}">
                <p14:modId xmlns:p14="http://schemas.microsoft.com/office/powerpoint/2010/main" val="4078550241"/>
              </p:ext>
            </p:extLst>
          </p:nvPr>
        </p:nvGraphicFramePr>
        <p:xfrm>
          <a:off x="685348" y="1342712"/>
          <a:ext cx="5004924" cy="3670974"/>
        </p:xfrm>
        <a:graphic>
          <a:graphicData uri="http://schemas.openxmlformats.org/presentationml/2006/ole">
            <mc:AlternateContent xmlns:mc="http://schemas.openxmlformats.org/markup-compatibility/2006">
              <mc:Choice xmlns:v="urn:schemas-microsoft-com:vml" Requires="v">
                <p:oleObj r:id="rId5" imgW="4563018" imgH="3346512" progId="">
                  <p:embed/>
                </p:oleObj>
              </mc:Choice>
              <mc:Fallback>
                <p:oleObj r:id="rId5" imgW="4563018" imgH="3346512" progId="">
                  <p:embed/>
                  <p:pic>
                    <p:nvPicPr>
                      <p:cNvPr id="57" name="Object 56">
                        <a:extLst>
                          <a:ext uri="{FF2B5EF4-FFF2-40B4-BE49-F238E27FC236}">
                            <a16:creationId xmlns:a16="http://schemas.microsoft.com/office/drawing/2014/main" id="{6BA53EFE-BFC3-3FA5-F3AF-FE2035D438E1}"/>
                          </a:ext>
                        </a:extLst>
                      </p:cNvPr>
                      <p:cNvPicPr/>
                      <p:nvPr/>
                    </p:nvPicPr>
                    <p:blipFill>
                      <a:blip r:embed="rId6"/>
                      <a:stretch>
                        <a:fillRect/>
                      </a:stretch>
                    </p:blipFill>
                    <p:spPr>
                      <a:xfrm>
                        <a:off x="685348" y="1342712"/>
                        <a:ext cx="5004924" cy="3670974"/>
                      </a:xfrm>
                      <a:prstGeom prst="rect">
                        <a:avLst/>
                      </a:prstGeom>
                    </p:spPr>
                  </p:pic>
                </p:oleObj>
              </mc:Fallback>
            </mc:AlternateContent>
          </a:graphicData>
        </a:graphic>
      </p:graphicFrame>
      <p:pic>
        <p:nvPicPr>
          <p:cNvPr id="12" name="Picture 11" descr="A graph with colored lines and numbers&#10;&#10;AI-generated content may be incorrect.">
            <a:extLst>
              <a:ext uri="{FF2B5EF4-FFF2-40B4-BE49-F238E27FC236}">
                <a16:creationId xmlns:a16="http://schemas.microsoft.com/office/drawing/2014/main" id="{A7039984-EFE7-0697-029C-BE1D71C06E81}"/>
              </a:ext>
            </a:extLst>
          </p:cNvPr>
          <p:cNvPicPr>
            <a:picLocks noChangeAspect="1"/>
          </p:cNvPicPr>
          <p:nvPr/>
        </p:nvPicPr>
        <p:blipFill>
          <a:blip r:embed="rId7"/>
          <a:stretch>
            <a:fillRect/>
          </a:stretch>
        </p:blipFill>
        <p:spPr>
          <a:xfrm>
            <a:off x="562019" y="23547273"/>
            <a:ext cx="5658814" cy="4590901"/>
          </a:xfrm>
          <a:prstGeom prst="rect">
            <a:avLst/>
          </a:prstGeom>
        </p:spPr>
      </p:pic>
      <p:sp>
        <p:nvSpPr>
          <p:cNvPr id="31" name="TextBox 30">
            <a:extLst>
              <a:ext uri="{FF2B5EF4-FFF2-40B4-BE49-F238E27FC236}">
                <a16:creationId xmlns:a16="http://schemas.microsoft.com/office/drawing/2014/main" id="{FEBF305F-E061-CF8E-5EAD-5594EEABBE14}"/>
              </a:ext>
            </a:extLst>
          </p:cNvPr>
          <p:cNvSpPr txBox="1"/>
          <p:nvPr/>
        </p:nvSpPr>
        <p:spPr>
          <a:xfrm>
            <a:off x="685348" y="6948063"/>
            <a:ext cx="9759553"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800" dirty="0">
                <a:latin typeface="Times New Roman"/>
                <a:cs typeface="Times New Roman"/>
              </a:rPr>
              <a:t>This experiment verifies the mass of the positron by analyzing its trajectory within a controlled electromagnetic field. The positron, the antimatter counterpart to the electron, undergoes deflection when subjected to the </a:t>
            </a:r>
            <a:r>
              <a:rPr lang="en-US" sz="2800" b="1" dirty="0">
                <a:latin typeface="Times New Roman"/>
                <a:cs typeface="Times New Roman"/>
              </a:rPr>
              <a:t>Lorentz force</a:t>
            </a:r>
            <a:r>
              <a:rPr lang="en-US" sz="2800" dirty="0">
                <a:latin typeface="Times New Roman"/>
                <a:cs typeface="Times New Roman"/>
              </a:rPr>
              <a:t>. By using a </a:t>
            </a:r>
            <a:r>
              <a:rPr lang="en-US" sz="2800" b="1" dirty="0">
                <a:latin typeface="Times New Roman"/>
                <a:cs typeface="Times New Roman"/>
              </a:rPr>
              <a:t>Helmholtz coil</a:t>
            </a:r>
            <a:r>
              <a:rPr lang="en-US" sz="2800" dirty="0">
                <a:latin typeface="Times New Roman"/>
                <a:cs typeface="Times New Roman"/>
              </a:rPr>
              <a:t> in conjunction with a capacitor, we create a velocity selector that isolates positrons moving at a specific velocity. Once these particles exit the selector, the magnetic field induces a circular path with a radius proportional to the particle's momentum.</a:t>
            </a:r>
          </a:p>
        </p:txBody>
      </p:sp>
      <p:sp>
        <p:nvSpPr>
          <p:cNvPr id="2069" name="TextBox 2068">
            <a:extLst>
              <a:ext uri="{FF2B5EF4-FFF2-40B4-BE49-F238E27FC236}">
                <a16:creationId xmlns:a16="http://schemas.microsoft.com/office/drawing/2014/main" id="{653EB2D6-27B8-FE5D-7AEB-887571FE29D3}"/>
              </a:ext>
            </a:extLst>
          </p:cNvPr>
          <p:cNvSpPr txBox="1"/>
          <p:nvPr/>
        </p:nvSpPr>
        <p:spPr>
          <a:xfrm>
            <a:off x="6401851" y="18065556"/>
            <a:ext cx="3992252" cy="10864513"/>
          </a:xfrm>
          <a:prstGeom prst="rect">
            <a:avLst/>
          </a:prstGeom>
          <a:noFill/>
        </p:spPr>
        <p:txBody>
          <a:bodyPr wrap="square" rtlCol="0">
            <a:spAutoFit/>
          </a:bodyPr>
          <a:lstStyle/>
          <a:p>
            <a:pPr algn="just" defTabSz="2926438">
              <a:spcBef>
                <a:spcPct val="50000"/>
              </a:spcBef>
            </a:pPr>
            <a:r>
              <a:rPr lang="en-US" sz="2800" dirty="0">
                <a:latin typeface="Times New Roman" panose="02020603050405020304" pitchFamily="18" charset="0"/>
                <a:cs typeface="Times New Roman" panose="02020603050405020304" pitchFamily="18" charset="0"/>
              </a:rPr>
              <a:t>distance of 1 mm and a  supplied voltage of ~1kV from a power supply. Positrons with a velocity of ~200keV were selected. Once the particle exited the capacitor, the Lorentz force causes the positron to deflect. Using Python, we calculated the radius of deflection and offset by which the positrons would exit the coil at ~3.09cm. The Radiacode radiation detector was placed there with lead bricks in a “brick oven” fashion to act as  shielding. A background measurement was taken with the sample in place and the coil/capacitor off. Experimental data was recorded and saved to a csv file</a:t>
            </a:r>
            <a:endParaRPr lang="en-US" sz="2800" i="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B2F99EB-11CA-8718-2B4C-2584387B8212}"/>
              </a:ext>
            </a:extLst>
          </p:cNvPr>
          <p:cNvSpPr txBox="1"/>
          <p:nvPr/>
        </p:nvSpPr>
        <p:spPr>
          <a:xfrm>
            <a:off x="-215899" y="31551736"/>
            <a:ext cx="10972800" cy="646331"/>
          </a:xfrm>
          <a:prstGeom prst="rect">
            <a:avLst/>
          </a:prstGeom>
          <a:noFill/>
        </p:spPr>
        <p:txBody>
          <a:bodyPr wrap="square">
            <a:spAutoFit/>
          </a:bodyPr>
          <a:lstStyle/>
          <a:p>
            <a:pPr defTabSz="2926438"/>
            <a:r>
              <a:rPr lang="en-US" sz="1800" i="1" dirty="0">
                <a:latin typeface="Times New Roman" panose="02020603050405020304" pitchFamily="18" charset="0"/>
                <a:cs typeface="Times New Roman" panose="02020603050405020304" pitchFamily="18" charset="0"/>
              </a:rPr>
              <a:t>Jarom Peterson, Makelle Forson, James Winder,</a:t>
            </a:r>
          </a:p>
          <a:p>
            <a:pPr defTabSz="2926438"/>
            <a:r>
              <a:rPr lang="en-US" sz="1800" i="1" dirty="0">
                <a:latin typeface="Times New Roman" panose="02020603050405020304" pitchFamily="18" charset="0"/>
                <a:cs typeface="Times New Roman" panose="02020603050405020304" pitchFamily="18" charset="0"/>
              </a:rPr>
              <a:t>Chase Etter, Miles Bethel</a:t>
            </a:r>
            <a:endParaRPr lang="en-US" sz="1800" i="1" dirty="0"/>
          </a:p>
        </p:txBody>
      </p:sp>
      <p:pic>
        <p:nvPicPr>
          <p:cNvPr id="17" name="Picture 16">
            <a:extLst>
              <a:ext uri="{FF2B5EF4-FFF2-40B4-BE49-F238E27FC236}">
                <a16:creationId xmlns:a16="http://schemas.microsoft.com/office/drawing/2014/main" id="{A7C34E69-05A6-579C-7F54-C366FD01DD4A}"/>
              </a:ext>
            </a:extLst>
          </p:cNvPr>
          <p:cNvPicPr>
            <a:picLocks noChangeAspect="1"/>
          </p:cNvPicPr>
          <p:nvPr/>
        </p:nvPicPr>
        <p:blipFill>
          <a:blip r:embed="rId8"/>
          <a:stretch>
            <a:fillRect/>
          </a:stretch>
        </p:blipFill>
        <p:spPr>
          <a:xfrm>
            <a:off x="16703247" y="9818026"/>
            <a:ext cx="4698369" cy="3523776"/>
          </a:xfrm>
          <a:prstGeom prst="rect">
            <a:avLst/>
          </a:prstGeom>
        </p:spPr>
      </p:pic>
      <p:pic>
        <p:nvPicPr>
          <p:cNvPr id="1028" name="Picture 4">
            <a:extLst>
              <a:ext uri="{FF2B5EF4-FFF2-40B4-BE49-F238E27FC236}">
                <a16:creationId xmlns:a16="http://schemas.microsoft.com/office/drawing/2014/main" id="{AA7B6F6E-DD60-60A5-16A2-18A4106457B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02999" y="9511846"/>
            <a:ext cx="5486400" cy="4314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Default Design">
  <a:themeElements>
    <a:clrScheme name="Custom 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212167"/>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sz="86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TotalTime>
  <Words>422</Words>
  <Application>Microsoft Office PowerPoint</Application>
  <PresentationFormat>Custom</PresentationFormat>
  <Paragraphs>22</Paragraphs>
  <Slides>1</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0</vt:i4>
      </vt:variant>
      <vt:variant>
        <vt:lpstr>Slide Titles</vt:lpstr>
      </vt:variant>
      <vt:variant>
        <vt:i4>1</vt:i4>
      </vt:variant>
    </vt:vector>
  </HeadingPairs>
  <TitlesOfParts>
    <vt:vector size="5" baseType="lpstr">
      <vt:lpstr>Arial</vt:lpstr>
      <vt:lpstr>Cambria Math</vt:lpstr>
      <vt:lpstr>Times New Roman</vt:lpstr>
      <vt:lpstr>Default Design</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Vertical Poster</dc:title>
  <dc:creator>Ethan Shulda;www.postersession.com</dc:creator>
  <cp:keywords>www.postersession.com</cp:keywords>
  <dc:description>©MegaPrint Inc. 2009</dc:description>
  <cp:lastModifiedBy>Bethel, Miles</cp:lastModifiedBy>
  <cp:revision>6</cp:revision>
  <dcterms:created xsi:type="dcterms:W3CDTF">2008-12-04T00:20:37Z</dcterms:created>
  <dcterms:modified xsi:type="dcterms:W3CDTF">2026-04-05T10:25:34Z</dcterms:modified>
  <cp:category>Research Poster</cp:category>
</cp:coreProperties>
</file>